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251"/>
            <a:ext cx="7772400" cy="1470025"/>
          </a:xfrm>
        </p:spPr>
        <p:txBody>
          <a:bodyPr/>
          <a:lstStyle/>
          <a:p>
            <a:r>
              <a:rPr lang="en-US" dirty="0"/>
              <a:t>Orange </a:t>
            </a:r>
            <a:r>
              <a:rPr dirty="0"/>
              <a:t>Telecom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3886" y="1382485"/>
            <a:ext cx="6618514" cy="530134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dirty="0">
                <a:solidFill>
                  <a:schemeClr val="tx1"/>
                </a:solidFill>
              </a:rPr>
              <a:t>Power BI Analytics Project</a:t>
            </a:r>
            <a:r>
              <a:rPr lang="en-US" dirty="0">
                <a:solidFill>
                  <a:schemeClr val="tx1"/>
                </a:solidFill>
              </a:rPr>
              <a:t> prepared by Onyinye Shirley Odunze-Akasiugwu </a:t>
            </a:r>
            <a:endParaRPr dirty="0">
              <a:solidFill>
                <a:schemeClr val="tx1"/>
              </a:solidFill>
            </a:endParaRPr>
          </a:p>
          <a:p>
            <a:pPr algn="l"/>
            <a:endParaRPr dirty="0">
              <a:solidFill>
                <a:schemeClr val="tx1"/>
              </a:solidFill>
            </a:endParaRPr>
          </a:p>
          <a:p>
            <a:pPr algn="l"/>
            <a:r>
              <a:rPr dirty="0">
                <a:solidFill>
                  <a:schemeClr val="tx1"/>
                </a:solidFill>
              </a:rPr>
              <a:t>Key KPIs: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160000"/>
              </a:lnSpc>
            </a:pPr>
            <a:r>
              <a:rPr dirty="0">
                <a:solidFill>
                  <a:schemeClr val="tx1"/>
                </a:solidFill>
              </a:rPr>
              <a:t>• Total Customers: 2,666</a:t>
            </a:r>
          </a:p>
          <a:p>
            <a:pPr algn="l">
              <a:lnSpc>
                <a:spcPct val="160000"/>
              </a:lnSpc>
            </a:pPr>
            <a:r>
              <a:rPr dirty="0">
                <a:solidFill>
                  <a:schemeClr val="tx1"/>
                </a:solidFill>
              </a:rPr>
              <a:t>• Churned Customers: 388</a:t>
            </a:r>
          </a:p>
          <a:p>
            <a:pPr algn="l">
              <a:lnSpc>
                <a:spcPct val="160000"/>
              </a:lnSpc>
            </a:pPr>
            <a:r>
              <a:rPr dirty="0">
                <a:solidFill>
                  <a:schemeClr val="tx1"/>
                </a:solidFill>
              </a:rPr>
              <a:t>• Churn Rate: 14.55%</a:t>
            </a:r>
          </a:p>
          <a:p>
            <a:pPr algn="l">
              <a:lnSpc>
                <a:spcPct val="160000"/>
              </a:lnSpc>
            </a:pPr>
            <a:r>
              <a:rPr dirty="0">
                <a:solidFill>
                  <a:schemeClr val="tx1"/>
                </a:solidFill>
              </a:rPr>
              <a:t>• ARPU: $59.36</a:t>
            </a:r>
          </a:p>
          <a:p>
            <a:pPr algn="l">
              <a:lnSpc>
                <a:spcPct val="160000"/>
              </a:lnSpc>
            </a:pPr>
            <a:r>
              <a:rPr dirty="0">
                <a:solidFill>
                  <a:schemeClr val="tx1"/>
                </a:solidFill>
              </a:rPr>
              <a:t>• CS Sensitivity Index: 1.41</a:t>
            </a:r>
          </a:p>
          <a:p>
            <a:pPr algn="l">
              <a:lnSpc>
                <a:spcPct val="160000"/>
              </a:lnSpc>
            </a:pPr>
            <a:r>
              <a:rPr dirty="0">
                <a:solidFill>
                  <a:schemeClr val="tx1"/>
                </a:solidFill>
              </a:rPr>
              <a:t>• Plan Churn Ratio: 3.88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920"/>
            <a:ext cx="8229600" cy="868366"/>
          </a:xfrm>
        </p:spPr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1488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This project analyzes </a:t>
            </a:r>
            <a:r>
              <a:rPr lang="en-US" dirty="0"/>
              <a:t>Orange </a:t>
            </a:r>
            <a:r>
              <a:rPr dirty="0"/>
              <a:t>telecom churn using Power BI.</a:t>
            </a:r>
          </a:p>
          <a:p>
            <a:endParaRPr dirty="0"/>
          </a:p>
          <a:p>
            <a:r>
              <a:rPr dirty="0"/>
              <a:t>Goals:</a:t>
            </a:r>
          </a:p>
          <a:p>
            <a:pPr marL="0" indent="0">
              <a:buNone/>
            </a:pPr>
            <a:r>
              <a:rPr dirty="0"/>
              <a:t>• Identify key churn drivers</a:t>
            </a:r>
          </a:p>
          <a:p>
            <a:pPr marL="0" indent="0">
              <a:buNone/>
            </a:pPr>
            <a:r>
              <a:rPr dirty="0"/>
              <a:t>• Understand behavioral and geographic churn patterns</a:t>
            </a:r>
          </a:p>
          <a:p>
            <a:pPr marL="0" indent="0">
              <a:buNone/>
            </a:pPr>
            <a:r>
              <a:rPr dirty="0"/>
              <a:t>• Provide insights to improve customer retention</a:t>
            </a:r>
          </a:p>
          <a:p>
            <a:pPr marL="0" indent="0">
              <a:buNone/>
            </a:pPr>
            <a:r>
              <a:rPr dirty="0"/>
              <a:t>• Visualize churn risk segments for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928"/>
            <a:ext cx="8229600" cy="1143000"/>
          </a:xfrm>
        </p:spPr>
        <p:txBody>
          <a:bodyPr/>
          <a:lstStyle/>
          <a:p>
            <a:r>
              <a:rPr dirty="0"/>
              <a:t>Executive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Overall churn rate stands at 14.6%</a:t>
            </a:r>
          </a:p>
          <a:p>
            <a:pPr marL="0" indent="0">
              <a:buNone/>
            </a:pPr>
            <a:r>
              <a:rPr dirty="0"/>
              <a:t>• International plan customers show significantly higher churn</a:t>
            </a:r>
          </a:p>
          <a:p>
            <a:pPr marL="0" indent="0">
              <a:buNone/>
            </a:pPr>
            <a:r>
              <a:rPr dirty="0"/>
              <a:t>• ARPU averages $59.36 indicating moderate revenue per user</a:t>
            </a:r>
          </a:p>
          <a:p>
            <a:pPr marL="0" indent="0">
              <a:buNone/>
            </a:pPr>
            <a:r>
              <a:rPr dirty="0"/>
              <a:t>• CS Sensitivity Index suggests churn increases with service calls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 Churn Ratio indicates that International Plan customers are multiple times more likely to cancel their subscriptions, suggesting potential dissatisfaction with pricing or service quality.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5"/>
            <a:ext cx="8229600" cy="1143000"/>
          </a:xfrm>
        </p:spPr>
        <p:txBody>
          <a:bodyPr/>
          <a:lstStyle/>
          <a:p>
            <a:r>
              <a:rPr dirty="0"/>
              <a:t>Customer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2494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Customers with high customer service calls show much higher churn</a:t>
            </a:r>
          </a:p>
          <a:p>
            <a:pPr marL="0" indent="0">
              <a:buNone/>
            </a:pPr>
            <a:r>
              <a:rPr dirty="0"/>
              <a:t>• Churn risk increases significantly after multiple service complaints</a:t>
            </a:r>
          </a:p>
          <a:p>
            <a:pPr marL="0" indent="0">
              <a:buNone/>
            </a:pPr>
            <a:r>
              <a:rPr dirty="0"/>
              <a:t>• High call frequency segments have up to ~65% churn probability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Usage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usage customers generate more revenue but may still churn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Cost sensitivity plays a role in churn behavior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Monitoring high-value customers is critical for retention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120"/>
            <a:ext cx="8229600" cy="1143000"/>
          </a:xfrm>
        </p:spPr>
        <p:txBody>
          <a:bodyPr/>
          <a:lstStyle/>
          <a:p>
            <a:r>
              <a:rPr dirty="0"/>
              <a:t>Geographic Churn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Some states show churn rates above 25%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Regional churn patterns indicate targeted retention opportunities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Geographic segmentation helps identify at-risk markets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1143000"/>
          </a:xfrm>
        </p:spPr>
        <p:txBody>
          <a:bodyPr/>
          <a:lstStyle/>
          <a:p>
            <a:r>
              <a:rPr dirty="0"/>
              <a:t>Key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Improve customer support response to reduce repeated service calls</a:t>
            </a:r>
          </a:p>
          <a:p>
            <a:r>
              <a:t>2. Review pricing strategy for international plan users</a:t>
            </a:r>
          </a:p>
          <a:p>
            <a:r>
              <a:t>3. Focus retention campaigns on high-value and high-risk customers</a:t>
            </a:r>
          </a:p>
          <a:p>
            <a:r>
              <a:t>4. Implement proactive churn detection for customers with frequent complaints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164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is strongly influenced by:</a:t>
            </a:r>
          </a:p>
          <a:p>
            <a:r>
              <a:t>• Customer service interactions</a:t>
            </a:r>
          </a:p>
          <a:p>
            <a:r>
              <a:t>• Pricing of international plans</a:t>
            </a:r>
          </a:p>
          <a:p>
            <a:r>
              <a:t>• Customer tenure and usage behavior</a:t>
            </a:r>
          </a:p>
          <a:p>
            <a:endParaRPr/>
          </a:p>
          <a:p>
            <a:r>
              <a:t>Data-driven retention strategies can significantly reduce churn.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DE610-4CD1-5A7F-1D49-5ABB37F1A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05" y="1654084"/>
            <a:ext cx="5626389" cy="3549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92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Geographic and Behavioral Churn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7EF39-89BC-7688-A3F4-94B80597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64" y="1121229"/>
            <a:ext cx="7568750" cy="4828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 Deep Dive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94F99-96A6-A994-24EB-6C2A0D241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371"/>
            <a:ext cx="8179887" cy="4884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BB49-E890-0EEC-08BC-BFB53346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09F4-6236-2D01-94EB-ED5DDF9E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Analysis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5325A-CC9D-ADB8-D6C1-9D7DA11DC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5" y="1417638"/>
            <a:ext cx="7482385" cy="45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63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340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Orange Telecom Churn Analysis</vt:lpstr>
      <vt:lpstr>Project Objective</vt:lpstr>
      <vt:lpstr>Executive Dashboard Insights</vt:lpstr>
      <vt:lpstr>Customer Behavior Insights</vt:lpstr>
      <vt:lpstr>Revenue vs Usage Insights</vt:lpstr>
      <vt:lpstr>Geographic Churn Insights</vt:lpstr>
      <vt:lpstr>Key Business Recommendations</vt:lpstr>
      <vt:lpstr>Conclusion</vt:lpstr>
      <vt:lpstr>Executive Dashboard Overview</vt:lpstr>
      <vt:lpstr>Geographic and Behavioral Churn Insights</vt:lpstr>
      <vt:lpstr>Customer Behavior Deep Dive</vt:lpstr>
      <vt:lpstr>Trend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Shirley Odunze-Akasiugwu</dc:creator>
  <cp:keywords/>
  <dc:description>generated using python-pptx</dc:description>
  <cp:lastModifiedBy>Shirley Odunze-Akasiugwu</cp:lastModifiedBy>
  <cp:revision>2</cp:revision>
  <dcterms:created xsi:type="dcterms:W3CDTF">2013-01-27T09:14:16Z</dcterms:created>
  <dcterms:modified xsi:type="dcterms:W3CDTF">2026-03-09T21:15:38Z</dcterms:modified>
  <cp:category/>
</cp:coreProperties>
</file>